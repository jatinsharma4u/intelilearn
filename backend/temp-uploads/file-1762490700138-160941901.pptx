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sldIdLst>
    <p:sldId id="398" r:id="rId2"/>
    <p:sldId id="893" r:id="rId3"/>
    <p:sldId id="895" r:id="rId4"/>
    <p:sldId id="896" r:id="rId5"/>
    <p:sldId id="901" r:id="rId6"/>
    <p:sldId id="902" r:id="rId7"/>
    <p:sldId id="903" r:id="rId8"/>
    <p:sldId id="904" r:id="rId9"/>
    <p:sldId id="906" r:id="rId10"/>
    <p:sldId id="905" r:id="rId11"/>
    <p:sldId id="907" r:id="rId12"/>
    <p:sldId id="897" r:id="rId13"/>
    <p:sldId id="898" r:id="rId14"/>
    <p:sldId id="908" r:id="rId15"/>
    <p:sldId id="899" r:id="rId16"/>
    <p:sldId id="900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800545-44A6-4592-9FC3-D79A0F28E1F3}" v="2" dt="2025-09-29T19:52:21.704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83602" autoAdjust="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>
        <p:guide orient="horz" pos="216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am Agrawal" userId="88bbcecd602cfbf5" providerId="LiveId" clId="{1F54CE37-B7F2-47BB-BE0A-76874644B804}"/>
    <pc:docChg chg="undo custSel addSld modSld">
      <pc:chgData name="Saksham Agrawal" userId="88bbcecd602cfbf5" providerId="LiveId" clId="{1F54CE37-B7F2-47BB-BE0A-76874644B804}" dt="2025-09-29T19:54:05.254" v="61" actId="732"/>
      <pc:docMkLst>
        <pc:docMk/>
      </pc:docMkLst>
      <pc:sldChg chg="modSp mod">
        <pc:chgData name="Saksham Agrawal" userId="88bbcecd602cfbf5" providerId="LiveId" clId="{1F54CE37-B7F2-47BB-BE0A-76874644B804}" dt="2025-09-29T19:48:47.931" v="12" actId="20577"/>
        <pc:sldMkLst>
          <pc:docMk/>
          <pc:sldMk cId="2966640668" sldId="896"/>
        </pc:sldMkLst>
        <pc:spChg chg="mod">
          <ac:chgData name="Saksham Agrawal" userId="88bbcecd602cfbf5" providerId="LiveId" clId="{1F54CE37-B7F2-47BB-BE0A-76874644B804}" dt="2025-09-29T19:48:47.931" v="12" actId="20577"/>
          <ac:spMkLst>
            <pc:docMk/>
            <pc:sldMk cId="2966640668" sldId="896"/>
            <ac:spMk id="4" creationId="{7D431B55-BEB3-F772-59B0-3126A225B3D7}"/>
          </ac:spMkLst>
        </pc:spChg>
      </pc:sldChg>
      <pc:sldChg chg="addSp delSp modSp mod">
        <pc:chgData name="Saksham Agrawal" userId="88bbcecd602cfbf5" providerId="LiveId" clId="{1F54CE37-B7F2-47BB-BE0A-76874644B804}" dt="2025-09-29T19:53:34.933" v="57" actId="1036"/>
        <pc:sldMkLst>
          <pc:docMk/>
          <pc:sldMk cId="2839438387" sldId="907"/>
        </pc:sldMkLst>
        <pc:picChg chg="add mod modCrop">
          <ac:chgData name="Saksham Agrawal" userId="88bbcecd602cfbf5" providerId="LiveId" clId="{1F54CE37-B7F2-47BB-BE0A-76874644B804}" dt="2025-09-29T19:53:34.933" v="57" actId="1036"/>
          <ac:picMkLst>
            <pc:docMk/>
            <pc:sldMk cId="2839438387" sldId="907"/>
            <ac:picMk id="3" creationId="{61081AB8-B5ED-128A-C0C8-B952DA56163E}"/>
          </ac:picMkLst>
        </pc:picChg>
        <pc:picChg chg="del mod">
          <ac:chgData name="Saksham Agrawal" userId="88bbcecd602cfbf5" providerId="LiveId" clId="{1F54CE37-B7F2-47BB-BE0A-76874644B804}" dt="2025-09-29T19:50:42.070" v="26" actId="478"/>
          <ac:picMkLst>
            <pc:docMk/>
            <pc:sldMk cId="2839438387" sldId="907"/>
            <ac:picMk id="4" creationId="{A09BE860-A856-151D-9D49-9516F83743E9}"/>
          </ac:picMkLst>
        </pc:picChg>
      </pc:sldChg>
      <pc:sldChg chg="addSp modSp new mod">
        <pc:chgData name="Saksham Agrawal" userId="88bbcecd602cfbf5" providerId="LiveId" clId="{1F54CE37-B7F2-47BB-BE0A-76874644B804}" dt="2025-09-29T19:54:05.254" v="61" actId="732"/>
        <pc:sldMkLst>
          <pc:docMk/>
          <pc:sldMk cId="3299076366" sldId="908"/>
        </pc:sldMkLst>
        <pc:picChg chg="add mod modCrop">
          <ac:chgData name="Saksham Agrawal" userId="88bbcecd602cfbf5" providerId="LiveId" clId="{1F54CE37-B7F2-47BB-BE0A-76874644B804}" dt="2025-09-29T19:54:05.254" v="61" actId="732"/>
          <ac:picMkLst>
            <pc:docMk/>
            <pc:sldMk cId="3299076366" sldId="908"/>
            <ac:picMk id="4" creationId="{D32344C0-958C-0DAB-5A41-E7814E1BE0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060C29E-9B5B-4891-AD2C-D1A302CD22B7}" type="datetimeFigureOut">
              <a:rPr lang="en-IN"/>
              <a:pPr>
                <a:defRPr/>
              </a:pPr>
              <a:t>30-09-2025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4278465F-3D71-4443-8E3E-1B4CF3DBE4B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218108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78465F-3D71-4443-8E3E-1B4CF3DBE4B5}" type="slidenum">
              <a:rPr lang="en-IN" altLang="en-US" smtClean="0"/>
              <a:pPr>
                <a:defRPr/>
              </a:pPr>
              <a:t>1</a:t>
            </a:fld>
            <a:endParaRPr lang="en-I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106364-15DA-487D-BA78-AD069801A912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5C9A8-712B-4804-8476-0826BA8B138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FC857-7FED-4723-AD62-EE7DA35D7A8E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2B94A-CF4D-4A0A-B9B4-D18CFD7E6AC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035EE-524C-4511-AFEC-562C070E6818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FB3E14-130C-43D4-A6DC-346D589CBD9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A8732-D606-4317-9754-18042BE7773C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8F384-F1EA-4F8D-81C7-CC42B73A470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371D5-85D2-4590-A4F8-EACBC597FEA1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08FA4-42A0-44BB-8938-86DF4951522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D52C7-F2C2-4067-83D6-DE376C51AB68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D75E2-373A-4791-A6A0-1D985017FC4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91953-70F2-44E3-87C9-0C7FB54D8093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D4501-1BA1-4A99-B6BE-042CBDBF95EF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F9AEC-A6E4-4B80-AA64-1CFAD975C775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16382-3EE8-46B0-9326-32637938BDA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CCD1E-2B21-4BFF-93DD-19C7192BB632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125CF-503D-4757-A075-BF05186B50B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48D74-F42C-4875-B2FB-37D46D26C414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715B7-8A57-49A2-8FDD-B4DCE588535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ED19C-87B6-4FDF-9FA9-49766C24DAB2}" type="datetime1">
              <a:rPr lang="en-US" smtClean="0"/>
              <a:pPr>
                <a:defRPr/>
              </a:pPr>
              <a:t>9/30/2025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97534-7684-4369-B304-F0394593889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700" y="6422375"/>
            <a:ext cx="1572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0000"/>
                </a:solidFill>
                <a:latin typeface="Abadi" panose="020B0604020104020204" pitchFamily="34" charset="0"/>
                <a:cs typeface="+mn-cs"/>
              </a:defRPr>
            </a:lvl1pPr>
          </a:lstStyle>
          <a:p>
            <a:pPr>
              <a:defRPr/>
            </a:pPr>
            <a:fld id="{7134951A-CFFB-4432-AFBE-AD8D941B70D5}" type="datetime1">
              <a:rPr lang="en-US" smtClean="0"/>
              <a:pPr>
                <a:defRPr/>
              </a:pPr>
              <a:t>9/30/2025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0065" y="6422375"/>
            <a:ext cx="148423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000" b="1">
                <a:solidFill>
                  <a:srgbClr val="FF0000"/>
                </a:solidFill>
                <a:latin typeface="Abadi" panose="020B0604020104020204" pitchFamily="34" charset="0"/>
              </a:defRPr>
            </a:lvl1pPr>
          </a:lstStyle>
          <a:p>
            <a:pPr>
              <a:defRPr/>
            </a:pPr>
            <a:fld id="{271613D8-62CD-4B8B-9D01-15BF1C873414}" type="slidenum">
              <a:rPr lang="en-IN" altLang="en-US" smtClean="0"/>
              <a:pPr>
                <a:defRPr/>
              </a:pPr>
              <a:t>‹#›</a:t>
            </a:fld>
            <a:endParaRPr lang="en-IN" altLang="en-US" dirty="0"/>
          </a:p>
        </p:txBody>
      </p:sp>
      <p:pic>
        <p:nvPicPr>
          <p:cNvPr id="1032" name="TextBox 7"/>
          <p:cNvPicPr>
            <a:picLocks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400"/>
            <a:ext cx="91567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8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" y="17463"/>
            <a:ext cx="6270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2" descr="Image result for india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3" r="16351" b="17178"/>
          <a:stretch>
            <a:fillRect/>
          </a:stretch>
        </p:blipFill>
        <p:spPr bwMode="auto">
          <a:xfrm>
            <a:off x="8504238" y="103188"/>
            <a:ext cx="4603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 userDrawn="1"/>
        </p:nvSpPr>
        <p:spPr>
          <a:xfrm>
            <a:off x="2589756" y="6377991"/>
            <a:ext cx="3533312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badi" panose="020B0604020104020204" pitchFamily="34" charset="0"/>
              </a:rPr>
              <a:t>Department of Information Science and </a:t>
            </a:r>
            <a:r>
              <a:rPr lang="en-US" sz="1200" dirty="0" err="1">
                <a:solidFill>
                  <a:schemeClr val="bg1"/>
                </a:solidFill>
                <a:latin typeface="Abadi" panose="020B0604020104020204" pitchFamily="34" charset="0"/>
              </a:rPr>
              <a:t>Engg</a:t>
            </a:r>
            <a:endParaRPr lang="en-IN" sz="12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65294"/>
            <a:ext cx="9156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7827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Department of Information Science and Engineering </a:t>
            </a:r>
          </a:p>
        </p:txBody>
      </p:sp>
      <p:sp>
        <p:nvSpPr>
          <p:cNvPr id="7" name="Rectangle 6"/>
          <p:cNvSpPr/>
          <p:nvPr/>
        </p:nvSpPr>
        <p:spPr>
          <a:xfrm>
            <a:off x="547531" y="3211285"/>
            <a:ext cx="7924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IN" sz="6000" dirty="0"/>
            </a:br>
            <a:r>
              <a:rPr lang="en-IN" sz="60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046" y="1484792"/>
            <a:ext cx="8707901" cy="181588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IN" sz="36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Mini Project Presentation Review – 1</a:t>
            </a:r>
          </a:p>
          <a:p>
            <a:pPr algn="ctr"/>
            <a:endParaRPr lang="en-IN" b="1" spc="5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  <a:p>
            <a:pPr algn="ctr"/>
            <a:r>
              <a:rPr lang="en-IN" sz="36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Title: </a:t>
            </a:r>
            <a:r>
              <a:rPr lang="en-IN" sz="4000" b="1" spc="50" dirty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Open Sans" panose="020B0606030504020204" pitchFamily="34" charset="0"/>
                <a:cs typeface="Times New Roman" pitchFamily="18" charset="0"/>
              </a:rPr>
              <a:t>“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Student Micro-Learning Hub”</a:t>
            </a:r>
            <a:endParaRPr lang="en-IN" sz="3600" b="1" spc="5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  <a:p>
            <a:endParaRPr lang="en-IN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0631" y="3300674"/>
            <a:ext cx="8322733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Presented By</a:t>
            </a:r>
            <a:endParaRPr lang="en-IN" b="1" dirty="0"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  <a:p>
            <a:pPr lvl="2"/>
            <a:r>
              <a:rPr lang="en-US" b="1" dirty="0"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Jatin Sharma              	                        USN: 1BY23IS258</a:t>
            </a:r>
            <a:endParaRPr lang="en-IN" b="1" dirty="0"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  <a:p>
            <a:pPr lvl="2"/>
            <a:r>
              <a:rPr lang="en-US" b="1" dirty="0"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Kalpitha Naik	                                        USN: 1BY23IS259</a:t>
            </a:r>
            <a:endParaRPr lang="en-IN" b="1" dirty="0"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  <a:p>
            <a:pPr lvl="2"/>
            <a:r>
              <a:rPr lang="en-US" b="1" dirty="0"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Saksham Agrawal            	                        USN: 1BY23IS260</a:t>
            </a:r>
            <a:endParaRPr lang="en-IN" b="1" dirty="0"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  <a:p>
            <a:pPr lvl="2" algn="ctr"/>
            <a:r>
              <a:rPr lang="en-US" b="1" dirty="0"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 </a:t>
            </a:r>
            <a:endParaRPr lang="en-IN" dirty="0"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  <a:p>
            <a:pPr algn="ctr"/>
            <a:r>
              <a:rPr lang="en-US" sz="2800" b="1" dirty="0"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Under the guidance of</a:t>
            </a:r>
            <a:endParaRPr lang="en-IN" sz="2800" b="1" dirty="0"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Prof. Sanjana VH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Open Sans" panose="020B0606030504020204" pitchFamily="34" charset="0"/>
                <a:cs typeface="Times New Roman" pitchFamily="18" charset="0"/>
              </a:rPr>
              <a:t>Asst. Professor</a:t>
            </a:r>
            <a:endParaRPr lang="en-IN" sz="2800" dirty="0">
              <a:latin typeface="Times New Roman" pitchFamily="18" charset="0"/>
              <a:ea typeface="Open Sans" panose="020B0606030504020204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2</a:t>
            </a:fld>
            <a:endParaRPr lang="en-I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C8E75-2F69-443F-C7B7-DBE9B94B3CBE}"/>
              </a:ext>
            </a:extLst>
          </p:cNvPr>
          <p:cNvSpPr txBox="1"/>
          <p:nvPr/>
        </p:nvSpPr>
        <p:spPr>
          <a:xfrm>
            <a:off x="621097" y="2477189"/>
            <a:ext cx="79017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Identification and Objectives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Literature Survey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Methodology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&amp;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3DC42-76B1-E845-22C2-2084CEECE215}"/>
              </a:ext>
            </a:extLst>
          </p:cNvPr>
          <p:cNvSpPr txBox="1"/>
          <p:nvPr/>
        </p:nvSpPr>
        <p:spPr>
          <a:xfrm>
            <a:off x="793627" y="999920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5D5C3-6BAC-063B-4E9B-97A701EC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DEB7D4-41F6-30B2-13E5-2D77E678E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47" y="2071674"/>
            <a:ext cx="8871953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e-learning platforms often present a "one-size-fits-all" approach, leading to significant challenges for modern students.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Traditional E-Learning: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 much content, hard to focus on key points.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Learning: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interaction → low retention and motivation.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Personalization: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Same path for everyone → knowledge gaps remain.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Progress Tracking: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to find weak areas for improvement.</a:t>
            </a:r>
          </a:p>
          <a:p>
            <a:pPr lvl="1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dynamic, intelligent learning environment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adapts to each student.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C7453-6E08-617D-6D35-BA0665319C1E}"/>
              </a:ext>
            </a:extLst>
          </p:cNvPr>
          <p:cNvSpPr txBox="1"/>
          <p:nvPr/>
        </p:nvSpPr>
        <p:spPr>
          <a:xfrm>
            <a:off x="793630" y="906460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397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CA4DC-603C-E8AB-EC0B-D86E7126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431B55-BEB3-F772-59B0-3126A225B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25" y="2031607"/>
            <a:ext cx="8590547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an AI-powered platform for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personalized, engaging, and efficient learning.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Content Pipeline: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Auto-process notes (PDFs, images) → create summaries, flashcards, quizzes.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student performance → adjust learning path to fix weak areas.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XP, leaderboards, streaks, and quiz battles to boost motivation.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multiplayer quizzes and group study sessions.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34216-626E-A989-6095-672E5E82BC33}"/>
              </a:ext>
            </a:extLst>
          </p:cNvPr>
          <p:cNvSpPr txBox="1"/>
          <p:nvPr/>
        </p:nvSpPr>
        <p:spPr>
          <a:xfrm>
            <a:off x="793630" y="906460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296664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5AC072-CBA8-18C1-2998-B2837F2E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5</a:t>
            </a:fld>
            <a:endParaRPr lang="en-I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9CF12-67DB-CAFD-5DD5-491D7BD57204}"/>
              </a:ext>
            </a:extLst>
          </p:cNvPr>
          <p:cNvSpPr txBox="1"/>
          <p:nvPr/>
        </p:nvSpPr>
        <p:spPr>
          <a:xfrm>
            <a:off x="793630" y="759811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D8B6FC6C-4399-CBFF-5DBE-A1F2B2B82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504876"/>
              </p:ext>
            </p:extLst>
          </p:nvPr>
        </p:nvGraphicFramePr>
        <p:xfrm>
          <a:off x="329660" y="1969707"/>
          <a:ext cx="8484678" cy="4073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3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4744"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4300">
                        <a:lnSpc>
                          <a:spcPct val="100099"/>
                        </a:lnSpc>
                        <a:spcBef>
                          <a:spcPts val="2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Paper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 Name, Journal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r>
                        <a:rPr lang="en-US"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8755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Methodology/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Technology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used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132840" algn="ctr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Measurable Parameters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15900" algn="just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Outcomes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sz="1200" b="1" spc="-5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terms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of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Efficiency,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Accuracy.. </a:t>
                      </a:r>
                      <a:r>
                        <a:rPr lang="en-IN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sz="1200" b="1" spc="-25" dirty="0" err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tc</a:t>
                      </a:r>
                      <a:r>
                        <a:rPr lang="en-US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(in terms of Quantitative Results)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4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"Adaptive learning and reinforcement modeling in education systems," Tang et al. (2021), IEEE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 (RL) to model student paths and recommend activities.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gain, time-on-task, student performance.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that RL-based adaptive systems significantly improve learning efficiency over static curricula.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complex; faces a "cold start" problem requiring substantial initial data.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38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"Does gamification work? — A literature review of empirical studies on gamification," Hamari et al. (2014), IEEE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Literature Review of empirical studies on gamification's effects.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engagement, motivation, behavioral change.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 that gamification generally yields positive effects, but success is highly context-dependent.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of specific mechanics (points, badges) varies greatly; poor design can be demotivating.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27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AD1E47-D1DA-1017-AF81-C25656C2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59DF4B7A-673A-9C16-D7D6-3828C8A01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324629"/>
              </p:ext>
            </p:extLst>
          </p:nvPr>
        </p:nvGraphicFramePr>
        <p:xfrm>
          <a:off x="329660" y="1865038"/>
          <a:ext cx="8484678" cy="42331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3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4744"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4300">
                        <a:lnSpc>
                          <a:spcPct val="100099"/>
                        </a:lnSpc>
                        <a:spcBef>
                          <a:spcPts val="2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Paper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 Name, Journal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r>
                        <a:rPr lang="en-US"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8755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Methodology/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Technology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used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132840" algn="ctr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Measurable Parameters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15900" algn="just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Outcomes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sz="1200" b="1" spc="-5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terms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of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Efficiency,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Accuracy.. </a:t>
                      </a:r>
                      <a:r>
                        <a:rPr lang="en-IN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sz="1200" b="1" spc="-25" dirty="0" err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tc</a:t>
                      </a:r>
                      <a:r>
                        <a:rPr lang="en-US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(in terms of Quantitative Results)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7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"Automated Question Generation from Educational Text Using Text-to-Text Transformers," Kumar et al. (2022), IEEE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a T5 (Text-to-Text Transfer Transformer) model for Question Generation (QG).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BLEU, ROUGE scores for linguistic quality; human evaluation.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performance in generating contextually relevant questions, automating quiz creation.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occasionally generate factually incorrect or ambiguous questions, requiring human validation.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38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"Exploring the limits of transfer learning with a unified text-to-text transformer," Raffel et al. (2020), JMLR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the T5 framework, treating all NLP tasks (summarization, QG) as text-generation problems.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on NLP benchmarks (GLUE, SuperGLUE).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Established state-of-the-art results on many NLP tasks, proving the framework's power and flexibility.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models are computationally expensive to fine-tune and deploy, posing a challenge for small-scale projects.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BF9AC7-DF2B-EE47-066F-80C94FF1E313}"/>
              </a:ext>
            </a:extLst>
          </p:cNvPr>
          <p:cNvSpPr txBox="1"/>
          <p:nvPr/>
        </p:nvSpPr>
        <p:spPr>
          <a:xfrm>
            <a:off x="793630" y="759811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197803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50B9F-28FB-2EC5-933B-816A733F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A4DED-C845-B367-CE90-BBC485E008FF}"/>
              </a:ext>
            </a:extLst>
          </p:cNvPr>
          <p:cNvSpPr txBox="1"/>
          <p:nvPr/>
        </p:nvSpPr>
        <p:spPr>
          <a:xfrm>
            <a:off x="793630" y="759811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76B5C6C3-F7E8-5FF2-D3A4-05EF59B77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76988"/>
              </p:ext>
            </p:extLst>
          </p:nvPr>
        </p:nvGraphicFramePr>
        <p:xfrm>
          <a:off x="329661" y="1814651"/>
          <a:ext cx="8484678" cy="42095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3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78215"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4300">
                        <a:lnSpc>
                          <a:spcPct val="100099"/>
                        </a:lnSpc>
                        <a:spcBef>
                          <a:spcPts val="2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Paper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 Name, Journal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r>
                        <a:rPr lang="en-US"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8755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Methodology/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Technology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used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132840" algn="ctr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Measurable Parameters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15900" algn="just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Outcomes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sz="1200" b="1" spc="-5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terms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of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Efficiency,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Accuracy.. </a:t>
                      </a:r>
                      <a:r>
                        <a:rPr lang="en-IN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sz="1200" b="1" spc="-25" dirty="0" err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tc</a:t>
                      </a:r>
                      <a:r>
                        <a:rPr lang="en-US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(in terms of Quantitative Results)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24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 systematic review of AI-powered adaptive learning systems in higher education," El-Sabagh (2021), Springer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Literature Review focusing on AI techniques in adaptive learning platforms.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Personalization accuracy, student satisfaction, learning outcomes.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key AI techniques (expert systems, ITS, machine learning) and confirmed their positive impact on personalized education.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existing systems are domain-specific and lack the flexibility to handle user-uploaded, unstructured content.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37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"BERT-Based Unsupervised Question Generation," Shan et al. (2021), ACM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unsupervised approach using BERT to generate questions by identifying key sentences and using cloze-style prompts.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Fluency, relevance, and answerability scores evaluated by humans.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the ability to generate meaningful questions without requiring large labeled question-answer datasets.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quality of questions is highly dependent on the structure and clarity of the source text.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13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D7A32E-C9F7-4EC8-5D2B-AA695AE4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A722F66F-8FD9-7E1A-4CF6-12BD92852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16045"/>
              </p:ext>
            </p:extLst>
          </p:nvPr>
        </p:nvGraphicFramePr>
        <p:xfrm>
          <a:off x="329660" y="1865038"/>
          <a:ext cx="8484678" cy="42331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3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4744"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4300">
                        <a:lnSpc>
                          <a:spcPct val="100099"/>
                        </a:lnSpc>
                        <a:spcBef>
                          <a:spcPts val="2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Paper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 Name, Journal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r>
                        <a:rPr lang="en-US"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8755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Methodology/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Technology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used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132840" algn="ctr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Measurable Parameters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15900" algn="just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Outcomes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sz="1200" b="1" spc="-5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terms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of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Efficiency,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Accuracy.. </a:t>
                      </a:r>
                      <a:r>
                        <a:rPr lang="en-IN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sz="1200" b="1" spc="-25" dirty="0" err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tc</a:t>
                      </a:r>
                      <a:r>
                        <a:rPr lang="en-US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(in terms of Quantitative Results)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7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"The critical role of retrieval practice in long-term retention," Roediger &amp; Butler (2011), Trends in Cognitive Sciences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Psychology Review of studies on the "testing effect."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Long-term memory retention, transfer of learning.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Concluded that active recall (testing/quizzing) is a significantly more effective study method than passive review.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focuses on the "why," not the "how," leaving a gap for technology to implement this at scale.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38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"An overview of the Tesseract OCR engine," Smith et al. (2007), IEEE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detailed overview of the Tesseract OCR engine's architecture, including layout analysis and character recognition.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 recognition accuracy, processing speed.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a robust, open-source OCR engine that has become a standard for text extraction from images.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complex layouts, handwritten text, and low-quality images, which can lead to errors.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8B1DAB-942F-FF10-38D6-F8961EB30A1D}"/>
              </a:ext>
            </a:extLst>
          </p:cNvPr>
          <p:cNvSpPr txBox="1"/>
          <p:nvPr/>
        </p:nvSpPr>
        <p:spPr>
          <a:xfrm>
            <a:off x="793630" y="759811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3975442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23B4F0-7F2F-B0E1-F4BE-92C345D1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9C388-38BE-4F94-3EDE-2018FA331BFE}"/>
              </a:ext>
            </a:extLst>
          </p:cNvPr>
          <p:cNvSpPr txBox="1"/>
          <p:nvPr/>
        </p:nvSpPr>
        <p:spPr>
          <a:xfrm>
            <a:off x="793630" y="759811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E179373D-04D1-6447-F967-02100CE8C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572989"/>
              </p:ext>
            </p:extLst>
          </p:nvPr>
        </p:nvGraphicFramePr>
        <p:xfrm>
          <a:off x="329660" y="1804653"/>
          <a:ext cx="8484678" cy="42331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3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4744"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4300">
                        <a:lnSpc>
                          <a:spcPct val="100099"/>
                        </a:lnSpc>
                        <a:spcBef>
                          <a:spcPts val="2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Paper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 Name, Journal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r>
                        <a:rPr lang="en-US"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8755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Methodology/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Technology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used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132840" algn="ctr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Measurable Parameters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15900" algn="just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Outcomes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sz="1200" b="1" spc="-5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terms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of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Efficiency,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Accuracy.. </a:t>
                      </a:r>
                      <a:r>
                        <a:rPr lang="en-IN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sz="1200" b="1" spc="-25" dirty="0" err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tc</a:t>
                      </a:r>
                      <a:r>
                        <a:rPr lang="en-US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(in terms of Quantitative Results)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7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"Weakness Detection in Programming Education Using Code Metrics and Machine Learning," Lu et al. (2022), IEEE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static code analysis and Machine Learning (Decision Trees) to identify student weaknesses in programming assignments.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in predicting failing grades or specific misconceptions.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Successfully identified patterns in student code that correlate with specific conceptual weak points.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approach is domain-specific (programming) and requires adaptation for general-purpose subjects.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38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"Micro-Learning: A Modernized Education System," Jomah et al. (2016), Springer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analysis of the micro-learning paradigm.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Engagement time, completion rates, knowledge retention.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Argued that short, focused learning units are better suited for modern learners' attention spans and improve retention.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a technical implementation blueprint; focuses on educational theory rather than AI-driven execution.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306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AAA63A-86DE-40AC-85EF-B8514899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3B1B89F8-2C60-0193-29B2-5F2C7424D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516850"/>
              </p:ext>
            </p:extLst>
          </p:nvPr>
        </p:nvGraphicFramePr>
        <p:xfrm>
          <a:off x="329660" y="1804653"/>
          <a:ext cx="8484678" cy="42331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3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4744"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4300">
                        <a:lnSpc>
                          <a:spcPct val="100099"/>
                        </a:lnSpc>
                        <a:spcBef>
                          <a:spcPts val="22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Paper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 Name, Journal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r>
                        <a:rPr lang="en-US"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8755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Methodology/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Technology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used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132840" algn="ctr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Measurable Parameters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15900" algn="just">
                        <a:lnSpc>
                          <a:spcPct val="100800"/>
                        </a:lnSpc>
                        <a:spcBef>
                          <a:spcPts val="20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Outcomes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sz="1200" b="1" spc="-5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terms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of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Efficiency,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Accuracy.. </a:t>
                      </a:r>
                      <a:r>
                        <a:rPr lang="en-IN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sz="1200" b="1" spc="-25" dirty="0" err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tc</a:t>
                      </a:r>
                      <a:r>
                        <a:rPr lang="en-US" sz="1200" b="1" spc="-25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(in terms of Quantitative Results)</a:t>
                      </a:r>
                      <a:endParaRPr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7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"Firebase for real-time collaborative applications," Singh &amp; Ahuja (2021), IEEE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Explored the use of Firebase Realtime Database and WebSockets for building collaborative applications.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sync latency, scalability, developer effort.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Showcased Firebase as a highly effective BaaS for developing apps with real-time features like live quizzes and chats.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Over-reliance on a third-party service; complex queries can be less efficient than traditional SQL databases.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38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50800" marR="50800" marT="12700" marB="1270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"Personalized Gamification: A Literature Review on Objectives, Methods, and Outcomes," Krath et al. (2021), ACM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Literature Review on adapting gamification to individual user preferences.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motivation, system adoption, task performance.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Concluded that personalized gamification (adapting mechanics to the user) is more effective than a one-size-fits-all approach.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in this area is still emerging; there is no single, agreed-upon framework for implementation.</a:t>
                      </a: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FDEC29-847B-9898-3257-B7819420AB83}"/>
              </a:ext>
            </a:extLst>
          </p:cNvPr>
          <p:cNvSpPr txBox="1"/>
          <p:nvPr/>
        </p:nvSpPr>
        <p:spPr>
          <a:xfrm>
            <a:off x="793630" y="759811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2282605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0A5001-E7AA-BD71-E432-2326C3A3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11</a:t>
            </a:fld>
            <a:endParaRPr lang="en-I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81AB8-B5ED-128A-C0C8-B952DA5616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22" t="2122" r="2578" b="8761"/>
          <a:stretch>
            <a:fillRect/>
          </a:stretch>
        </p:blipFill>
        <p:spPr>
          <a:xfrm>
            <a:off x="0" y="1324950"/>
            <a:ext cx="9144000" cy="476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38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7C9BC7-7D15-9493-B7C9-001ECA63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4E84D-6061-317C-F3AB-428FF47135A4}"/>
              </a:ext>
            </a:extLst>
          </p:cNvPr>
          <p:cNvSpPr txBox="1"/>
          <p:nvPr/>
        </p:nvSpPr>
        <p:spPr>
          <a:xfrm>
            <a:off x="793630" y="906460"/>
            <a:ext cx="75567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- System Architecture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F3EA224-C90F-F90B-F915-0EC15ED12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32" y="1894702"/>
            <a:ext cx="860453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platform follows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3-stage intelligent workflow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turn static notes into an interactive learning experience: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Ingestion &amp; Processing: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PDFs/images.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pipeline extracts text (OCR), summarizes it, and identifies key topics.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Course Generation: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organizes topics and creates a personalized study plan (easy → hard).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is saved for ongoing access.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&amp; Assessment: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provides explanations and auto-generated quizzes.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scores, detects weak areas, and adjusts the plan with extra examples and revision tasks.</a:t>
            </a:r>
          </a:p>
        </p:txBody>
      </p:sp>
    </p:spTree>
    <p:extLst>
      <p:ext uri="{BB962C8B-B14F-4D97-AF65-F5344CB8AC3E}">
        <p14:creationId xmlns:p14="http://schemas.microsoft.com/office/powerpoint/2010/main" val="3814453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243316-C3CC-F39B-3648-3E926033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B2BFDD3-BECA-23B4-2F5E-96CA66694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86" y="1629364"/>
            <a:ext cx="877102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platform 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microservice-based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scalability and easy maintenance: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– User Interface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+ Vite +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Fast, responsive UI.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SDK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data sync for dashboards and quizzes.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– Application &amp; AI Logic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NestJS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Socket.IO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logic, APIs, user management, and real-time "Quiz Battle."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Dedicated microservice for AI/ML tasks (OCR, summarization, quiz generation).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Models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&amp; Summarization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Pytesseract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(BART, T5).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RAG (Retrieval-Augmented Generation).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Pandas + Scikit-learn.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user profiles, content, and analytics.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real-time data (quiz states, leaderboards).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02871-2973-5737-7F9B-53BC02BFD2A0}"/>
              </a:ext>
            </a:extLst>
          </p:cNvPr>
          <p:cNvSpPr txBox="1"/>
          <p:nvPr/>
        </p:nvSpPr>
        <p:spPr>
          <a:xfrm>
            <a:off x="793626" y="822059"/>
            <a:ext cx="755673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- 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434412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F992-C87C-CC1E-0B91-0BBB1705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2344C0-958C-0DAB-5A41-E7814E1BE0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1" t="16250" r="8886" b="14519"/>
          <a:stretch>
            <a:fillRect/>
          </a:stretch>
        </p:blipFill>
        <p:spPr>
          <a:xfrm>
            <a:off x="0" y="1791478"/>
            <a:ext cx="9144000" cy="33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76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02DDDA-9D39-E846-FC47-B1F1C928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9432234-6AD5-0BEB-E7B5-642F7EA8C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91" y="1943480"/>
            <a:ext cx="835641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completion, this project will provide: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Micro-Learning Platform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fully functional web-based solution delivering a personalized and adaptive learning experience.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Content Transformation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Converts unstructured notes (PDFs/images) into structured study plans, summaries, flashcards, and quizzes.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Weakness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knowledge gaps and recommends targeted practice for maximum improvement.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 Learning Environment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Leaderboards, real-time "Quiz Battles," and interactive elements to boost motivation and knowledge retention.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A3656-1698-21E3-0141-FA68F1D79464}"/>
              </a:ext>
            </a:extLst>
          </p:cNvPr>
          <p:cNvSpPr txBox="1"/>
          <p:nvPr/>
        </p:nvSpPr>
        <p:spPr>
          <a:xfrm>
            <a:off x="793627" y="827351"/>
            <a:ext cx="7556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</p:spTree>
    <p:extLst>
      <p:ext uri="{BB962C8B-B14F-4D97-AF65-F5344CB8AC3E}">
        <p14:creationId xmlns:p14="http://schemas.microsoft.com/office/powerpoint/2010/main" val="3616645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089D5F-D530-C336-B25A-A628A0FC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4501-1BA1-4A99-B6BE-042CBDBF95EF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44F610-BCB0-6C62-2AE3-87A82DE82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403" y="1984258"/>
            <a:ext cx="837397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building the main features, we plan to add: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Support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 lecture audio and voice notes into text for easier learning.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Dashboard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special dashboard for teachers to see student progress and find students who need extra help.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Content Options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Let students bring in study material directly from websites or learning apps.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Personalization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smarter AI to customize both lessons and game features to keep students motivated.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14E7D-574B-B119-8884-ED5DF2B3DF23}"/>
              </a:ext>
            </a:extLst>
          </p:cNvPr>
          <p:cNvSpPr txBox="1"/>
          <p:nvPr/>
        </p:nvSpPr>
        <p:spPr>
          <a:xfrm>
            <a:off x="793628" y="837448"/>
            <a:ext cx="75567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&amp; Roadmap</a:t>
            </a:r>
          </a:p>
        </p:txBody>
      </p:sp>
    </p:spTree>
    <p:extLst>
      <p:ext uri="{BB962C8B-B14F-4D97-AF65-F5344CB8AC3E}">
        <p14:creationId xmlns:p14="http://schemas.microsoft.com/office/powerpoint/2010/main" val="224403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7347</TotalTime>
  <Words>1859</Words>
  <Application>Microsoft Office PowerPoint</Application>
  <PresentationFormat>On-screen Show (4:3)</PresentationFormat>
  <Paragraphs>206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Abadi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</dc:creator>
  <cp:lastModifiedBy>jatin sharma</cp:lastModifiedBy>
  <cp:revision>998</cp:revision>
  <dcterms:created xsi:type="dcterms:W3CDTF">2019-02-22T15:27:00Z</dcterms:created>
  <dcterms:modified xsi:type="dcterms:W3CDTF">2025-09-30T05:09:43Z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1033-11.2.0.9635</vt:lpwstr>
  </property>
</Properties>
</file>